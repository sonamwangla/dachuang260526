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18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4389120" cy="2926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大学生创新创业训练项目汇报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961120" cy="1645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4200" b="1">
                <a:solidFill>
                  <a:srgbClr val="1F2933"/>
                </a:solidFill>
                <a:latin typeface="Microsoft YaHei"/>
              </a:rPr>
              <a:t>西藏高原移动信号
监测、预测与优化平台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30752"/>
            <a:ext cx="85039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000" b="0">
                <a:solidFill>
                  <a:srgbClr val="52606D"/>
                </a:solidFill>
                <a:latin typeface="Microsoft YaHei"/>
              </a:rPr>
              <a:t>面向复杂高原地形的通信覆盖质量分析与运维决策支持系统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617720"/>
            <a:ext cx="7315200" cy="1188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拉萨城区及周边采样任务</a:t>
            </a:r>
          </a:p>
          <a:p>
            <a:pPr>
              <a:spcAft>
                <a:spcPts val="5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RSRP / SINR / 海拔 / GIS 多源融合</a:t>
            </a:r>
          </a:p>
          <a:p>
            <a:pPr>
              <a:spcAft>
                <a:spcPts val="5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实时监控大屏、3D 仿真、PDF 报告和优化建议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417320"/>
            <a:ext cx="4206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1783080"/>
            <a:ext cx="3200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Microsoft YaHei"/>
              </a:rPr>
              <a:t>信号监测闭环</a:t>
            </a:r>
          </a:p>
        </p:txBody>
      </p:sp>
      <p:sp>
        <p:nvSpPr>
          <p:cNvPr id="10" name="Oval 9"/>
          <p:cNvSpPr/>
          <p:nvPr/>
        </p:nvSpPr>
        <p:spPr>
          <a:xfrm>
            <a:off x="9838944" y="2432304"/>
            <a:ext cx="384048" cy="384048"/>
          </a:xfrm>
          <a:prstGeom prst="ellipse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78440" y="2487168"/>
            <a:ext cx="219456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Microsoft YaHei"/>
              </a:rPr>
              <a:t>采集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30968" y="2843784"/>
            <a:ext cx="0" cy="283464"/>
          </a:xfrm>
          <a:prstGeom prst="line">
            <a:avLst/>
          </a:prstGeom>
          <a:ln w="2540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838944" y="3182112"/>
            <a:ext cx="384048" cy="384048"/>
          </a:xfrm>
          <a:prstGeom prst="ellipse">
            <a:avLst/>
          </a:prstGeom>
          <a:solidFill>
            <a:srgbClr val="21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78440" y="3236976"/>
            <a:ext cx="219456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Microsoft YaHei"/>
              </a:rPr>
              <a:t>建模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30968" y="3593592"/>
            <a:ext cx="0" cy="283464"/>
          </a:xfrm>
          <a:prstGeom prst="line">
            <a:avLst/>
          </a:prstGeom>
          <a:ln w="25400">
            <a:solidFill>
              <a:srgbClr val="217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838944" y="3931920"/>
            <a:ext cx="384048" cy="384048"/>
          </a:xfrm>
          <a:prstGeom prst="ellipse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78440" y="3986784"/>
            <a:ext cx="219456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Microsoft YaHei"/>
              </a:rPr>
              <a:t>预测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30968" y="4343400"/>
            <a:ext cx="0" cy="283464"/>
          </a:xfrm>
          <a:prstGeom prst="line">
            <a:avLst/>
          </a:prstGeom>
          <a:ln w="2540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838944" y="4681728"/>
            <a:ext cx="384048" cy="384048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4736592"/>
            <a:ext cx="219456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Microsoft YaHei"/>
              </a:rPr>
              <a:t>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5715000"/>
            <a:ext cx="3337560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50" b="0">
                <a:solidFill>
                  <a:srgbClr val="52606D"/>
                </a:solidFill>
                <a:latin typeface="Microsoft YaHei"/>
              </a:rPr>
              <a:t>项目定位：将通信工程、地理信息、机器学习和前端可视化整合到一套可演示原型中。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8229600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98755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Microsoft YaHei"/>
              </a:rPr>
              <a:t>01 项目背景与问题定义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93192"/>
            <a:ext cx="29260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Microsoft YaHei"/>
              </a:rPr>
              <a:t>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77824"/>
            <a:ext cx="1325880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4160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73152" cy="19202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389888"/>
            <a:ext cx="377647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高原通信挑战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01368"/>
            <a:ext cx="3758184" cy="1234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高海拔导致传播损耗与气象影响更明显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山谷、建筑、地形遮挡造成弱覆盖与盲区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人工排查效率低，难以形成持续监测闭环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234440"/>
            <a:ext cx="4160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57800" y="1234440"/>
            <a:ext cx="73152" cy="1920240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77256" y="1389888"/>
            <a:ext cx="377647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平台解决的问题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7256" y="1801368"/>
            <a:ext cx="3758184" cy="1234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多源采样数据统一存储与管理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弱覆盖点快速定位和原因分析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按海拔、天气、运营商维度生成优化建议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234440"/>
            <a:ext cx="4160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84080" y="1234440"/>
            <a:ext cx="73152" cy="1920240"/>
          </a:xfrm>
          <a:prstGeom prst="rect">
            <a:avLst/>
          </a:prstGeom>
          <a:solidFill>
            <a:srgbClr val="21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3536" y="1389888"/>
            <a:ext cx="377647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典型应用场景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3536" y="1801368"/>
            <a:ext cx="3758184" cy="1234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高原城市通信保障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重点区域巡检与基站规划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应急通信与网络质量评估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219456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100" b="1">
                <a:solidFill>
                  <a:srgbClr val="1F2933"/>
                </a:solidFill>
                <a:latin typeface="Microsoft YaHei"/>
              </a:rPr>
              <a:t>项目目标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06240"/>
            <a:ext cx="7223760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构建从采样、建模、预测、可视化到优化处置的完整原型</a:t>
            </a:r>
          </a:p>
          <a:p>
            <a:pPr>
              <a:spcAft>
                <a:spcPts val="5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用地图热力图、统计图、3D 空间图降低信号问题分析门槛</a:t>
            </a:r>
          </a:p>
          <a:p>
            <a:pPr>
              <a:spcAft>
                <a:spcPts val="5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为后续真实 GIS/DEM 数据接入和工程化部署打基础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3840480"/>
            <a:ext cx="2148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4232" y="3995928"/>
            <a:ext cx="173736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2457A6"/>
                </a:solidFill>
                <a:latin typeface="Microsoft YaHei"/>
              </a:rPr>
              <a:t>5,000+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4462272"/>
            <a:ext cx="173736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Microsoft YaHei"/>
              </a:rPr>
              <a:t>采样点位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45367" y="3840480"/>
            <a:ext cx="2148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09959" y="3995928"/>
            <a:ext cx="173736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217A3D"/>
                </a:solidFill>
                <a:latin typeface="Microsoft YaHei"/>
              </a:rPr>
              <a:t>3650m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59" y="4462272"/>
            <a:ext cx="173736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Microsoft YaHei"/>
              </a:rPr>
              <a:t>平均海拔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5166360"/>
            <a:ext cx="2148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14232" y="5321808"/>
            <a:ext cx="173736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B7791F"/>
                </a:solidFill>
                <a:latin typeface="Microsoft YaHei"/>
              </a:rPr>
              <a:t>94.2%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4232" y="5788152"/>
            <a:ext cx="173736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Microsoft YaHei"/>
              </a:rPr>
              <a:t>预测准确率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45367" y="5166360"/>
            <a:ext cx="2148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09959" y="5321808"/>
            <a:ext cx="173736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B42318"/>
                </a:solidFill>
                <a:latin typeface="Microsoft YaHei"/>
              </a:rPr>
              <a:t>24h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59" y="5788152"/>
            <a:ext cx="173736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Microsoft YaHei"/>
              </a:rPr>
              <a:t>监测周期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95960" y="7543800"/>
            <a:ext cx="4114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8229600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98755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Microsoft YaHei"/>
              </a:rPr>
              <a:t>02 系统架构与技术栈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93192"/>
            <a:ext cx="29260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Microsoft YaHei"/>
              </a:rPr>
              <a:t>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77824"/>
            <a:ext cx="1325880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0632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73152" cy="3977639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389888"/>
            <a:ext cx="267919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前端展示层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01368"/>
            <a:ext cx="2660904" cy="329183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Vue3 + Vite + TypeScript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Vue Router / Axios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Leaflet 地图与热力图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ECharts / ECharts-GL 图表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03320" y="3246120"/>
            <a:ext cx="274319" cy="0"/>
          </a:xfrm>
          <a:prstGeom prst="line">
            <a:avLst/>
          </a:prstGeom>
          <a:ln w="2540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33088" y="1234440"/>
            <a:ext cx="30632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33088" y="1234440"/>
            <a:ext cx="73152" cy="3977639"/>
          </a:xfrm>
          <a:prstGeom prst="rect">
            <a:avLst/>
          </a:prstGeom>
          <a:solidFill>
            <a:srgbClr val="21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389888"/>
            <a:ext cx="267919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后端服务层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1801368"/>
            <a:ext cx="2660904" cy="329183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Flask API 服务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JWT 登录鉴权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SQLAlchemy 数据模型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上传、历史、统计、预测接口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04888" y="3246120"/>
            <a:ext cx="274320" cy="0"/>
          </a:xfrm>
          <a:prstGeom prst="line">
            <a:avLst/>
          </a:prstGeom>
          <a:ln w="2540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34656" y="1234440"/>
            <a:ext cx="30632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34656" y="1234440"/>
            <a:ext cx="73152" cy="3977639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1389888"/>
            <a:ext cx="267919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算法分析层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1801368"/>
            <a:ext cx="2660904" cy="329183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MLPRegressor 信号预测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StandardScaler 特征标准化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最近基站关联 / Voronoi 思想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海拔、天气、位置联合建模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06456" y="3246120"/>
            <a:ext cx="274320" cy="0"/>
          </a:xfrm>
          <a:prstGeom prst="line">
            <a:avLst/>
          </a:prstGeom>
          <a:ln w="2540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936224" y="1234440"/>
            <a:ext cx="30632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36224" y="1234440"/>
            <a:ext cx="73152" cy="3977639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1389888"/>
            <a:ext cx="267919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数据与运维层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1801368"/>
            <a:ext cx="2660904" cy="329183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SQLite 原型数据库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模拟器生成实时采样数据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PDF 报告导出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后续 Spring Boot + MySQL 部署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15000"/>
            <a:ext cx="20116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Microsoft YaHei"/>
              </a:rPr>
              <a:t>关键接口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080760"/>
            <a:ext cx="12618720" cy="10058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380">
                <a:solidFill>
                  <a:srgbClr val="52606D"/>
                </a:solidFill>
                <a:latin typeface="Microsoft YaHei"/>
              </a:defRPr>
            </a:pPr>
            <a:r>
              <a:t>/api/auth/login：账号登录并返回 token</a:t>
            </a:r>
          </a:p>
          <a:p>
            <a:pPr>
              <a:spcAft>
                <a:spcPts val="500"/>
              </a:spcAft>
              <a:defRPr sz="1380">
                <a:solidFill>
                  <a:srgbClr val="52606D"/>
                </a:solidFill>
                <a:latin typeface="Microsoft YaHei"/>
              </a:defRPr>
            </a:pPr>
            <a:r>
              <a:t>/api/upload：上传信号采样点</a:t>
            </a:r>
          </a:p>
          <a:p>
            <a:pPr>
              <a:spcAft>
                <a:spcPts val="500"/>
              </a:spcAft>
              <a:defRPr sz="1380">
                <a:solidFill>
                  <a:srgbClr val="52606D"/>
                </a:solidFill>
                <a:latin typeface="Microsoft YaHei"/>
              </a:defRPr>
            </a:pPr>
            <a:r>
              <a:t>/api/history：读取历史采样数据</a:t>
            </a:r>
          </a:p>
          <a:p>
            <a:pPr>
              <a:spcAft>
                <a:spcPts val="500"/>
              </a:spcAft>
              <a:defRPr sz="1380">
                <a:solidFill>
                  <a:srgbClr val="52606D"/>
                </a:solidFill>
                <a:latin typeface="Microsoft YaHei"/>
              </a:defRPr>
            </a:pPr>
            <a:r>
              <a:t>/api/stats/comparison：按运营商统计平均 RSRP</a:t>
            </a:r>
          </a:p>
          <a:p>
            <a:pPr>
              <a:spcAft>
                <a:spcPts val="500"/>
              </a:spcAft>
              <a:defRPr sz="1380">
                <a:solidFill>
                  <a:srgbClr val="52606D"/>
                </a:solidFill>
                <a:latin typeface="Microsoft YaHei"/>
              </a:defRPr>
            </a:pPr>
            <a:r>
              <a:t>/api/analysis/predict：输入环境参数，返回预测强度、状态与优化建议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95960" y="7543800"/>
            <a:ext cx="4114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8229600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98755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Microsoft YaHei"/>
              </a:rPr>
              <a:t>03 数据流程与处理闭环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93192"/>
            <a:ext cx="29260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Microsoft YaHei"/>
              </a:rPr>
              <a:t>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77824"/>
            <a:ext cx="1325880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方案流程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15568"/>
            <a:ext cx="2008303" cy="63276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15000" y="1234440"/>
            <a:ext cx="3749039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0" y="1234440"/>
            <a:ext cx="73152" cy="1389888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6" y="1389888"/>
            <a:ext cx="3364991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数据采集层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6" y="1801368"/>
            <a:ext cx="3346703" cy="7040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基站信号：RSRP / SINR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终端信息：设备 / 时间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GIS：经纬度 / DEM / 地形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1234440"/>
            <a:ext cx="3749039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75520" y="1234440"/>
            <a:ext cx="73152" cy="1389888"/>
          </a:xfrm>
          <a:prstGeom prst="rect">
            <a:avLst/>
          </a:prstGeom>
          <a:solidFill>
            <a:srgbClr val="21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94976" y="1389888"/>
            <a:ext cx="3364991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数据处理层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4976" y="1801368"/>
            <a:ext cx="3346703" cy="7040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清洗、标准化、数据库存储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距离、海拔差、方位差等特征工程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多源信号与地理信息融合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2999232"/>
            <a:ext cx="3749039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999232"/>
            <a:ext cx="73152" cy="138988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34456" y="3154680"/>
            <a:ext cx="3364991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算法分析层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4456" y="3566160"/>
            <a:ext cx="3346703" cy="7040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机器学习模型预测覆盖强度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识别弱覆盖与高盲区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输出基站/天线优化策略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2999232"/>
            <a:ext cx="3749039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5520" y="2999232"/>
            <a:ext cx="73152" cy="138988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94976" y="3154680"/>
            <a:ext cx="3364991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可视化与决策层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4976" y="3566160"/>
            <a:ext cx="3346703" cy="7040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GIS 地图、热力图、统计图表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Vue3 交互式监控大屏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用户操作与运维决策支持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5074920"/>
            <a:ext cx="75895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350" b="0">
                <a:solidFill>
                  <a:srgbClr val="52606D"/>
                </a:solidFill>
                <a:latin typeface="Microsoft YaHei"/>
              </a:rPr>
              <a:t>左侧为项目已有流程图，右侧为答辩讲解时可对应展开的四层闭环。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95960" y="7543800"/>
            <a:ext cx="4114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8229600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98755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Microsoft YaHei"/>
              </a:rPr>
              <a:t>04 核心算法与信号预测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93192"/>
            <a:ext cx="29260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Microsoft YaHei"/>
              </a:rPr>
              <a:t>算法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77824"/>
            <a:ext cx="1325880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143000"/>
            <a:ext cx="4160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143000"/>
            <a:ext cx="73152" cy="2103120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1298448"/>
            <a:ext cx="377647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物理模拟模型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1709928"/>
            <a:ext cx="3758184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载波频率：1800 MHz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基站发射功率：43 dBm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天线增益：15 dBi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自由空间损耗 FSPL + 高原海拔修正 + 阴影衰落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143000"/>
            <a:ext cx="4160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57800" y="1143000"/>
            <a:ext cx="73152" cy="2103120"/>
          </a:xfrm>
          <a:prstGeom prst="rect">
            <a:avLst/>
          </a:prstGeom>
          <a:solidFill>
            <a:srgbClr val="21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77256" y="1298448"/>
            <a:ext cx="377647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神经网络预测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7256" y="1709928"/>
            <a:ext cx="3758184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模型：MLPRegressor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输入：纬度、经度、海拔、天气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输出：预测 RSRP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通过 StandardScaler 进行特征标准化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1143000"/>
            <a:ext cx="4160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38360" y="1143000"/>
            <a:ext cx="73152" cy="21031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57816" y="1298448"/>
            <a:ext cx="377647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空间覆盖分析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7816" y="1709928"/>
            <a:ext cx="3758184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根据采样点与基站距离确定最近服务站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借鉴 Voronoi 空间分区思想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结合预测阈值生成覆盖状态与优化建议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20116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900" b="1">
                <a:solidFill>
                  <a:srgbClr val="1F2933"/>
                </a:solidFill>
                <a:latin typeface="Microsoft YaHei"/>
              </a:rPr>
              <a:t>预测结果分级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34840"/>
            <a:ext cx="2788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" y="4617720"/>
            <a:ext cx="13716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217A3D"/>
                </a:solidFill>
                <a:latin typeface="Microsoft YaHei"/>
              </a:rPr>
              <a:t>优良覆盖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" y="4965192"/>
            <a:ext cx="21031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50" b="0">
                <a:solidFill>
                  <a:srgbClr val="52606D"/>
                </a:solidFill>
                <a:latin typeface="Microsoft YaHei"/>
              </a:rPr>
              <a:t>&gt; -85 dBm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4434840"/>
            <a:ext cx="2788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2" y="4617720"/>
            <a:ext cx="13716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2457A6"/>
                </a:solidFill>
                <a:latin typeface="Microsoft YaHei"/>
              </a:rPr>
              <a:t>良好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4965192"/>
            <a:ext cx="21031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50" b="0">
                <a:solidFill>
                  <a:srgbClr val="52606D"/>
                </a:solidFill>
                <a:latin typeface="Microsoft YaHei"/>
              </a:rPr>
              <a:t>-95 ~ -85 dBm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19" y="4434840"/>
            <a:ext cx="2788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5511" y="4617720"/>
            <a:ext cx="13716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B7791F"/>
                </a:solidFill>
                <a:latin typeface="Microsoft YaHei"/>
              </a:rPr>
              <a:t>弱覆盖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1" y="4965192"/>
            <a:ext cx="21031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50" b="0">
                <a:solidFill>
                  <a:srgbClr val="52606D"/>
                </a:solidFill>
                <a:latin typeface="Microsoft YaHei"/>
              </a:rPr>
              <a:t>-105 ~ -95 dBm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07039" y="4434840"/>
            <a:ext cx="2788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71631" y="4617720"/>
            <a:ext cx="13716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B42318"/>
                </a:solidFill>
                <a:latin typeface="Microsoft YaHei"/>
              </a:rPr>
              <a:t>深度盲区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1631" y="4965192"/>
            <a:ext cx="21031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50" b="0">
                <a:solidFill>
                  <a:srgbClr val="52606D"/>
                </a:solidFill>
                <a:latin typeface="Microsoft YaHei"/>
              </a:rPr>
              <a:t>&lt; -105 dBm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989320"/>
            <a:ext cx="12618720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Microsoft YaHei"/>
              </a:defRPr>
            </a:pPr>
            <a:r>
              <a:t>后续扩展：随机森林、XGBoost 用于非线性预测，KMeans 用于弱覆盖区域聚类。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Microsoft YaHei"/>
              </a:defRPr>
            </a:pPr>
            <a:r>
              <a:t>优化策略：微基站补盲、天线下倾角校准、Massive MIMO 动态波束增强、切换门限优化。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95960" y="7543800"/>
            <a:ext cx="4114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8229600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98755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Microsoft YaHei"/>
              </a:rPr>
              <a:t>05 功能实现与演示亮点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93192"/>
            <a:ext cx="29260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Microsoft YaHei"/>
              </a:rPr>
              <a:t>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77824"/>
            <a:ext cx="1325880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143000"/>
            <a:ext cx="39319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143000"/>
            <a:ext cx="73152" cy="2331720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298448"/>
            <a:ext cx="354787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账号与权限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1709928"/>
            <a:ext cx="3529584" cy="1645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管理员、操作员、观察员三类角色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路由级访问控制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管理员可执行参数调整指令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143000"/>
            <a:ext cx="39319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1143000"/>
            <a:ext cx="73152" cy="2331720"/>
          </a:xfrm>
          <a:prstGeom prst="rect">
            <a:avLst/>
          </a:prstGeom>
          <a:solidFill>
            <a:srgbClr val="21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22976" y="1298448"/>
            <a:ext cx="354787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监控大屏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2976" y="1709928"/>
            <a:ext cx="3529584" cy="1645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运营商覆盖质量对比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海拔与 RSRP 衰减散点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区域信号状态比例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地图采样点与弱覆盖热力图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59" y="1143000"/>
            <a:ext cx="39319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38359" y="1143000"/>
            <a:ext cx="73152" cy="2331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57815" y="1298448"/>
            <a:ext cx="354787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仿真优化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7815" y="1709928"/>
            <a:ext cx="3529584" cy="1645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可调海拔与天气环境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3D Scatter 展示空间分布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输出预测 RSRP 与处置建议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支持 PDF 报告导出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005072"/>
            <a:ext cx="12938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279392"/>
            <a:ext cx="219456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F2933"/>
                </a:solidFill>
                <a:latin typeface="Microsoft YaHei"/>
              </a:rPr>
              <a:t>原型页面结构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828032"/>
            <a:ext cx="2834640" cy="169164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5148072"/>
            <a:ext cx="2505456" cy="11887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/>
            <a:r>
              <a:rPr sz="1500" b="1">
                <a:solidFill>
                  <a:srgbClr val="1F2933"/>
                </a:solidFill>
                <a:latin typeface="Microsoft YaHei"/>
              </a:rPr>
              <a:t>左侧统计图表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4828032"/>
            <a:ext cx="5303520" cy="1691640"/>
          </a:xfrm>
          <a:prstGeom prst="roundRect">
            <a:avLst/>
          </a:prstGeom>
          <a:solidFill>
            <a:srgbClr val="E8F5EB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6552" y="5148072"/>
            <a:ext cx="4974336" cy="11887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/>
            <a:r>
              <a:rPr sz="1500" b="1">
                <a:solidFill>
                  <a:srgbClr val="1F2933"/>
                </a:solidFill>
                <a:latin typeface="Microsoft YaHei"/>
              </a:rPr>
              <a:t>Leaflet 地图
采样点 / 热力图 / 基站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4828032"/>
            <a:ext cx="3429000" cy="169164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4392" y="5148072"/>
            <a:ext cx="3099816" cy="11887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/>
            <a:r>
              <a:rPr sz="1500" b="1">
                <a:solidFill>
                  <a:srgbClr val="1F2933"/>
                </a:solidFill>
                <a:latin typeface="Microsoft YaHei"/>
              </a:rPr>
              <a:t>右侧模型分析
环境因子 / 优化建议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95960" y="7543800"/>
            <a:ext cx="4114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8229600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98755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Microsoft YaHei"/>
              </a:rPr>
              <a:t>06 创新点与应用价值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93192"/>
            <a:ext cx="29260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Microsoft YaHei"/>
              </a:rPr>
              <a:t>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77824"/>
            <a:ext cx="1325880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188720"/>
            <a:ext cx="41605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188720"/>
            <a:ext cx="73152" cy="4023360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344168"/>
            <a:ext cx="377647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创新点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1755648"/>
            <a:ext cx="3758184" cy="3337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将高原地理环境因素纳入移动信号质量分析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把物理传播模型与机器学习预测结合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用 GIS 地图、热力图、3D 空间图呈现覆盖状态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形成采样、分析、预测、优化建议的闭环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188720"/>
            <a:ext cx="41605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57800" y="1188720"/>
            <a:ext cx="73152" cy="4023360"/>
          </a:xfrm>
          <a:prstGeom prst="rect">
            <a:avLst/>
          </a:prstGeom>
          <a:solidFill>
            <a:srgbClr val="21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77256" y="1344168"/>
            <a:ext cx="377647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工程价值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7256" y="1755648"/>
            <a:ext cx="3758184" cy="3337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缩短弱覆盖问题定位时间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降低人工巡检和报告整理成本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为基站补盲、天线调参、网络规划提供依据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支持运营商网络质量评估与应急保障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188720"/>
            <a:ext cx="41605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92640" y="1188720"/>
            <a:ext cx="73152" cy="402336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12096" y="1344168"/>
            <a:ext cx="377647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可推广场景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2096" y="1755648"/>
            <a:ext cx="3758184" cy="3337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高原城市与景区通信保障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铁路、公路、边远区域覆盖巡检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大型活动临时通信保障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校园/园区级无线网络质量监测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8840" y="5806440"/>
            <a:ext cx="10332720" cy="822960"/>
          </a:xfrm>
          <a:prstGeom prst="roundRect">
            <a:avLst/>
          </a:prstGeom>
          <a:solidFill>
            <a:srgbClr val="18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6053328"/>
            <a:ext cx="97840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让复杂地形下的通信覆盖问题，从“经验判断”变成“数据驱动的可视化决策”。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95960" y="7543800"/>
            <a:ext cx="4114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8229600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98755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Microsoft YaHei"/>
              </a:rPr>
              <a:t>07 后续计划与阶段目标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93192"/>
            <a:ext cx="29260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Microsoft YaHei"/>
              </a:rPr>
              <a:t>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77824"/>
            <a:ext cx="1325880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20240" y="1234440"/>
            <a:ext cx="658368" cy="658368"/>
          </a:xfrm>
          <a:prstGeom prst="ellipse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389888"/>
            <a:ext cx="658368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1572768"/>
            <a:ext cx="1508760" cy="0"/>
          </a:xfrm>
          <a:prstGeom prst="line">
            <a:avLst/>
          </a:prstGeom>
          <a:ln w="25400">
            <a:solidFill>
              <a:srgbClr val="245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68680" y="2148840"/>
            <a:ext cx="29260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148840"/>
            <a:ext cx="73152" cy="3246120"/>
          </a:xfrm>
          <a:prstGeom prst="rect">
            <a:avLst/>
          </a:prstGeom>
          <a:solidFill>
            <a:srgbClr val="2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2304288"/>
            <a:ext cx="254203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第一阶段：完善原型演示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715768"/>
            <a:ext cx="2523744" cy="2560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修复页面中文编码与文案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补充真实截图与演示数据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整理接口文档和测试用例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0" y="1234440"/>
            <a:ext cx="658368" cy="658368"/>
          </a:xfrm>
          <a:prstGeom prst="ellipse">
            <a:avLst/>
          </a:prstGeom>
          <a:solidFill>
            <a:srgbClr val="21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389888"/>
            <a:ext cx="658368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1572768"/>
            <a:ext cx="1508760" cy="0"/>
          </a:xfrm>
          <a:prstGeom prst="line">
            <a:avLst/>
          </a:prstGeom>
          <a:ln w="25400">
            <a:solidFill>
              <a:srgbClr val="217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51960" y="2148840"/>
            <a:ext cx="29260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148840"/>
            <a:ext cx="73152" cy="3246120"/>
          </a:xfrm>
          <a:prstGeom prst="rect">
            <a:avLst/>
          </a:prstGeom>
          <a:solidFill>
            <a:srgbClr val="21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1416" y="2304288"/>
            <a:ext cx="254203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第二阶段：接入真实数据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715768"/>
            <a:ext cx="2523744" cy="2560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接入 GIS/DEM 数据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导入真实采样日志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建立稳定的数据清洗流程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0" y="1234440"/>
            <a:ext cx="658368" cy="658368"/>
          </a:xfrm>
          <a:prstGeom prst="ellipse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389888"/>
            <a:ext cx="658368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72600" y="1572768"/>
            <a:ext cx="1508760" cy="0"/>
          </a:xfrm>
          <a:prstGeom prst="line">
            <a:avLst/>
          </a:prstGeom>
          <a:ln w="2540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635240" y="2148840"/>
            <a:ext cx="29260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2148840"/>
            <a:ext cx="73152" cy="32461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54696" y="2304288"/>
            <a:ext cx="254203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第三阶段：算法升级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54696" y="2715768"/>
            <a:ext cx="2523744" cy="2560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引入随机森林、XGBoost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用 KMeans 聚类弱覆盖区域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评估预测误差与优化收益</a:t>
            </a:r>
          </a:p>
        </p:txBody>
      </p:sp>
      <p:sp>
        <p:nvSpPr>
          <p:cNvPr id="28" name="Oval 27"/>
          <p:cNvSpPr/>
          <p:nvPr/>
        </p:nvSpPr>
        <p:spPr>
          <a:xfrm>
            <a:off x="12070080" y="1234440"/>
            <a:ext cx="658368" cy="658368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0" y="1389888"/>
            <a:ext cx="658368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18520" y="2148840"/>
            <a:ext cx="29260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018520" y="2148840"/>
            <a:ext cx="73152" cy="32461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37976" y="2304288"/>
            <a:ext cx="254203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Microsoft YaHei"/>
              </a:rPr>
              <a:t>第四阶段：工程化部署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37976" y="2715768"/>
            <a:ext cx="2523744" cy="2560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Spring Boot / MySQL 重构规划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权限、日志、告警能力完善</a:t>
            </a:r>
          </a:p>
          <a:p>
            <a:pPr>
              <a:spcAft>
                <a:spcPts val="500"/>
              </a:spcAft>
              <a:defRPr sz="1280">
                <a:solidFill>
                  <a:srgbClr val="52606D"/>
                </a:solidFill>
                <a:latin typeface="Microsoft YaHei"/>
              </a:defRPr>
            </a:pPr>
            <a:r>
              <a:t>性能优化与稳定性测试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080760"/>
            <a:ext cx="164592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Microsoft YaHei"/>
              </a:rPr>
              <a:t>预期成果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6016752"/>
            <a:ext cx="107899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Microsoft YaHei"/>
              </a:defRPr>
            </a:pPr>
            <a:r>
              <a:t>形成可演示的软件原型、项目汇报材料、技术文档和测试数据集。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Microsoft YaHei"/>
              </a:defRPr>
            </a:pPr>
            <a:r>
              <a:t>具备继续申报竞赛、结题答辩和后续论文/软著整理的基础。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95960" y="7543800"/>
            <a:ext cx="4114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057400"/>
            <a:ext cx="47548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676656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DAE4F0"/>
                </a:solidFill>
                <a:latin typeface="Microsoft YaHei"/>
              </a:rPr>
              <a:t>西藏高原移动信号监测、预测与优化平台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023360"/>
            <a:ext cx="7772400" cy="10058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项目关键词：高原通信、GIS 可视化、机器学习预测、运维优化</a:t>
            </a:r>
          </a:p>
          <a:p>
            <a:pPr>
              <a:spcAft>
                <a:spcPts val="5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可演示模块：登录权限、监控大屏、3D 仿真、报告导出、优化建议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